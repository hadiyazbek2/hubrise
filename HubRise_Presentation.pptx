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4612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00B4D8"/>
                </a:solidFill>
                <a:latin typeface="Arial"/>
              </a:rPr>
              <a:t>HubRise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CAF0F8"/>
                </a:solidFill>
                <a:latin typeface="Arial"/>
              </a:rPr>
              <a:t>A Goal-Oriented Social Network for Android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AABBCC"/>
                </a:solidFill>
                <a:latin typeface="Arial"/>
              </a:rPr>
              <a:t>Senior Project Presentation  |  2025 –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Arial"/>
              </a:rPr>
              <a:t>Hadi Yazbek   |   Supervisor: Dr. Mohamad Rida Mortada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480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AABBCC"/>
                </a:solidFill>
                <a:latin typeface="Arial"/>
              </a:rPr>
              <a:t>CS Engineering  |  github.com/hadiyazbek2/HubRise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922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ABBCC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  <a:latin typeface="Arial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2000">
                <a:solidFill>
                  <a:srgbClr val="FFFFFF"/>
                </a:solidFill>
                <a:latin typeface="Arial"/>
              </a:rPr>
              <a:t>▸  Problem Statement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2000">
                <a:solidFill>
                  <a:srgbClr val="FFFFFF"/>
                </a:solidFill>
                <a:latin typeface="Arial"/>
              </a:rPr>
              <a:t>▸  Project Idea &amp; Concept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2000">
                <a:solidFill>
                  <a:srgbClr val="FFFFFF"/>
                </a:solidFill>
                <a:latin typeface="Arial"/>
              </a:rPr>
              <a:t>▸  Related Work &amp; What Makes HubRise Different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2000">
                <a:solidFill>
                  <a:srgbClr val="FFFFFF"/>
                </a:solidFill>
                <a:latin typeface="Arial"/>
              </a:rPr>
              <a:t>▸  System Architecture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2000">
                <a:solidFill>
                  <a:srgbClr val="FFFFFF"/>
                </a:solidFill>
                <a:latin typeface="Arial"/>
              </a:rPr>
              <a:t>▸  Key Features Walkthrough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2000">
                <a:solidFill>
                  <a:srgbClr val="FFFFFF"/>
                </a:solidFill>
                <a:latin typeface="Arial"/>
              </a:rPr>
              <a:t>▸  Challenge System Deep Dive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2000">
                <a:solidFill>
                  <a:srgbClr val="FFFFFF"/>
                </a:solidFill>
                <a:latin typeface="Arial"/>
              </a:rPr>
              <a:t>▸  Code Highlights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2000">
                <a:solidFill>
                  <a:srgbClr val="FFFFFF"/>
                </a:solidFill>
                <a:latin typeface="Arial"/>
              </a:rPr>
              <a:t>▸  Technologies Used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2000">
                <a:solidFill>
                  <a:srgbClr val="FFFFFF"/>
                </a:solidFill>
                <a:latin typeface="Arial"/>
              </a:rPr>
              <a:t>▸  Limitations &amp; Future Work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2000">
                <a:solidFill>
                  <a:srgbClr val="FFFFFF"/>
                </a:solidFill>
                <a:latin typeface="Arial"/>
              </a:rPr>
              <a:t>▸  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ABBCC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  <a:latin typeface="Arial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CAF0F8"/>
                </a:solidFill>
                <a:latin typeface="Arial"/>
              </a:rPr>
              <a:t>"Social media gives you an audience, but not a purpose."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8C00"/>
                </a:solidFill>
                <a:latin typeface="Arial"/>
              </a:rPr>
              <a:t>✕  Passive Consumption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50591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Arial"/>
              </a:rPr>
              <a:t>People scroll for entertainment — not growth.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2607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8C00"/>
                </a:solidFill>
                <a:latin typeface="Arial"/>
              </a:rPr>
              <a:t>✕  No Accountability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73551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Arial"/>
              </a:rPr>
              <a:t>There is no social pressure to keep your commitments.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4903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8C00"/>
                </a:solidFill>
                <a:latin typeface="Arial"/>
              </a:rPr>
              <a:t>✕  No Flexible Goals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096511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Arial"/>
              </a:rPr>
              <a:t>Fitness apps only track fitness. No app tracks ANY goal.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572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8C00"/>
                </a:solidFill>
                <a:latin typeface="Arial"/>
              </a:rPr>
              <a:t>✕  Shallow Community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9194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Arial"/>
              </a:rPr>
              <a:t>Following someone ≠ working toward something together.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0" y="64922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ABBCC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  <a:latin typeface="Arial"/>
              </a:rPr>
              <a:t>The Solution: HubRise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CAF0F8"/>
                </a:solidFill>
                <a:latin typeface="Arial"/>
              </a:rPr>
              <a:t>A social network where every interaction is tied to a goal.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B4D8"/>
                </a:solidFill>
                <a:latin typeface="Arial"/>
              </a:rPr>
              <a:t>🏠  Hubs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1343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Arial"/>
              </a:rPr>
              <a:t>Join communities built around a shared goal — not just interests.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8892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B4D8"/>
                </a:solidFill>
                <a:latin typeface="Arial"/>
              </a:rPr>
              <a:t>🎯  Challenges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8211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Arial"/>
              </a:rPr>
              <a:t>3 flexible models: stage, count, and streak. Cover any goal.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65760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B4D8"/>
                </a:solidFill>
                <a:latin typeface="Arial"/>
              </a:rPr>
              <a:t>🤝  Accountability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050791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Arial"/>
              </a:rPr>
              <a:t>Peer validation + admin review = genuine, verified achievement.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52628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B4D8"/>
                </a:solidFill>
                <a:latin typeface="Arial"/>
              </a:rPr>
              <a:t>📣  Social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91947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Arial"/>
              </a:rPr>
              <a:t>Feed, likes, comments, follow/following — motivation through community.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0" y="64922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ABBCC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  <a:latin typeface="Arial"/>
              </a:rPr>
              <a:t>Related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887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B4D8"/>
                </a:solidFill>
                <a:latin typeface="Arial"/>
              </a:rPr>
              <a:t>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31720" y="11887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B4D8"/>
                </a:solidFill>
                <a:latin typeface="Arial"/>
              </a:rPr>
              <a:t>Goal Types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1887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B4D8"/>
                </a:solidFill>
                <a:latin typeface="Arial"/>
              </a:rPr>
              <a:t>Community Feed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12280" y="11887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B4D8"/>
                </a:solidFill>
                <a:latin typeface="Arial"/>
              </a:rPr>
              <a:t>Peer Validation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0" y="11887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B4D8"/>
                </a:solidFill>
                <a:latin typeface="Arial"/>
              </a:rPr>
              <a:t>Any Goal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6916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Arial"/>
              </a:rPr>
              <a:t>Strava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16916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Arial"/>
              </a:rPr>
              <a:t>Fitness only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69164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169164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4D4D"/>
                </a:solidFill>
                <a:latin typeface="Arial"/>
              </a:rPr>
              <a:t>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0" y="16916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4D4D"/>
                </a:solidFill>
                <a:latin typeface="Arial"/>
              </a:rPr>
              <a:t>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233172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Arial"/>
              </a:rPr>
              <a:t>Habitica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233172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Arial"/>
              </a:rPr>
              <a:t>Habits only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3317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4D4D"/>
                </a:solidFill>
                <a:latin typeface="Arial"/>
              </a:rPr>
              <a:t>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23317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4D4D"/>
                </a:solidFill>
                <a:latin typeface="Arial"/>
              </a:rPr>
              <a:t>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233172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4D4D"/>
                </a:solidFill>
                <a:latin typeface="Arial"/>
              </a:rPr>
              <a:t>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29718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Arial"/>
              </a:rPr>
              <a:t>Instagram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31720" y="29718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Arial"/>
              </a:rPr>
              <a:t>None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297180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80" y="297180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4D4D"/>
                </a:solidFill>
                <a:latin typeface="Arial"/>
              </a:rPr>
              <a:t>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29718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4D4D"/>
                </a:solidFill>
                <a:latin typeface="Arial"/>
              </a:rPr>
              <a:t>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3611879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B4D8"/>
                </a:solidFill>
                <a:latin typeface="Arial"/>
              </a:rPr>
              <a:t>HubRise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31720" y="3611879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B4D8"/>
                </a:solidFill>
                <a:latin typeface="Arial"/>
              </a:rPr>
              <a:t>Any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3611879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B4D8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2280" y="3611879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B4D8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3611879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B4D8"/>
                </a:solidFill>
                <a:latin typeface="Arial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57607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CAF0F8"/>
                </a:solidFill>
                <a:latin typeface="Arial"/>
              </a:rPr>
              <a:t>HubRise is the only solution combining all four capabilities.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0" y="64922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ABBCC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  <a:latin typeface="Arial"/>
              </a:rP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80160"/>
            <a:ext cx="2926080" cy="1463040"/>
          </a:xfrm>
          <a:prstGeom prst="rect">
            <a:avLst/>
          </a:prstGeom>
          <a:solidFill>
            <a:srgbClr val="1A2D42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B4D8"/>
                </a:solidFill>
                <a:latin typeface="Arial"/>
              </a:rPr>
              <a:t>Android Client
(Kotlin + MVVM)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1280160"/>
            <a:ext cx="2926080" cy="1463040"/>
          </a:xfrm>
          <a:prstGeom prst="rect">
            <a:avLst/>
          </a:prstGeom>
          <a:solidFill>
            <a:srgbClr val="1A2D42"/>
          </a:solidFill>
          <a:ln w="254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8C00"/>
                </a:solidFill>
                <a:latin typeface="Arial"/>
              </a:rPr>
              <a:t>REST API
(Django + DRF)</a:t>
            </a:r>
          </a:p>
        </p:txBody>
      </p:sp>
      <p:sp>
        <p:nvSpPr>
          <p:cNvPr id="6" name="Rectangle 5"/>
          <p:cNvSpPr/>
          <p:nvPr/>
        </p:nvSpPr>
        <p:spPr>
          <a:xfrm>
            <a:off x="6949440" y="1280160"/>
            <a:ext cx="2926080" cy="1463040"/>
          </a:xfrm>
          <a:prstGeom prst="rect">
            <a:avLst/>
          </a:prstGeom>
          <a:solidFill>
            <a:srgbClr val="1A2D42"/>
          </a:solidFill>
          <a:ln w="25400">
            <a:solidFill>
              <a:srgbClr val="CA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CAF0F8"/>
                </a:solidFill>
                <a:latin typeface="Arial"/>
              </a:rPr>
              <a:t>Database
(SQLite → PostgreSQL)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3200400"/>
            <a:ext cx="2194560" cy="1005840"/>
          </a:xfrm>
          <a:prstGeom prst="rect">
            <a:avLst/>
          </a:prstGeom>
          <a:solidFill>
            <a:srgbClr val="1A2D42"/>
          </a:solidFill>
          <a:ln w="25400">
            <a:solidFill>
              <a:srgbClr val="AA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AABBCC"/>
                </a:solidFill>
                <a:latin typeface="Arial"/>
              </a:rPr>
              <a:t>Retrofit
+ OkHttp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3200400"/>
            <a:ext cx="2194560" cy="1005840"/>
          </a:xfrm>
          <a:prstGeom prst="rect">
            <a:avLst/>
          </a:prstGeom>
          <a:solidFill>
            <a:srgbClr val="1A2D42"/>
          </a:solidFill>
          <a:ln w="25400">
            <a:solidFill>
              <a:srgbClr val="AA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AABBCC"/>
                </a:solidFill>
                <a:latin typeface="Arial"/>
              </a:rPr>
              <a:t>JWT Auth
(SimpleJWT)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3200400"/>
            <a:ext cx="2194560" cy="1005840"/>
          </a:xfrm>
          <a:prstGeom prst="rect">
            <a:avLst/>
          </a:prstGeom>
          <a:solidFill>
            <a:srgbClr val="1A2D42"/>
          </a:solidFill>
          <a:ln w="25400">
            <a:solidFill>
              <a:srgbClr val="AA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AABBCC"/>
                </a:solidFill>
                <a:latin typeface="Arial"/>
              </a:rPr>
              <a:t>Media Storage
(Filesystem)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778240" y="3200400"/>
            <a:ext cx="2194560" cy="1005840"/>
          </a:xfrm>
          <a:prstGeom prst="rect">
            <a:avLst/>
          </a:prstGeom>
          <a:solidFill>
            <a:srgbClr val="1A2D42"/>
          </a:solidFill>
          <a:ln w="25400">
            <a:solidFill>
              <a:srgbClr val="AA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AABBCC"/>
                </a:solidFill>
                <a:latin typeface="Arial"/>
              </a:rPr>
              <a:t>DataStore
(Secure tokens)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1874519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BBCC"/>
                </a:solidFill>
                <a:latin typeface="Arial"/>
              </a:rPr>
              <a:t>← JWT Bearer Token on every request 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874519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BBCC"/>
                </a:solidFill>
                <a:latin typeface="Arial"/>
              </a:rPr>
              <a:t>← SQL queries 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46634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CAF0F8"/>
                </a:solidFill>
                <a:latin typeface="Arial"/>
              </a:rPr>
              <a:t>25+ REST endpoints  •  MVVM on Android  •  JWT access (30 min) + refresh (7 days)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4922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ABBCC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  <a:latin typeface="Arial"/>
              </a:rPr>
              <a:t>Feature: User Registration &amp; Authentication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2000">
                <a:solidFill>
                  <a:srgbClr val="FFFFFF"/>
                </a:solidFill>
                <a:latin typeface="Arial"/>
              </a:rPr>
              <a:t>▸  3-step onboarding: email/password → username/name/DOB → interests/photo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2000">
                <a:solidFill>
                  <a:srgbClr val="FFFFFF"/>
                </a:solidFill>
                <a:latin typeface="Arial"/>
              </a:rPr>
              <a:t>▸  Real-time availability check for email and username during signup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2000">
                <a:solidFill>
                  <a:srgbClr val="FFFFFF"/>
                </a:solidFill>
                <a:latin typeface="Arial"/>
              </a:rPr>
              <a:t>▸  JWT access token (30 min TTL) + refresh token (7 days TTL)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2000">
                <a:solidFill>
                  <a:srgbClr val="FFFFFF"/>
                </a:solidFill>
                <a:latin typeface="Arial"/>
              </a:rPr>
              <a:t>▸  Tokens stored in Android DataStore — never SharedPreferences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2000">
                <a:solidFill>
                  <a:srgbClr val="FFFFFF"/>
                </a:solidFill>
                <a:latin typeface="Arial"/>
              </a:rPr>
              <a:t>▸  OkHttp Authenticator silently refreshes expired tokens (transparent to user)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2000">
                <a:solidFill>
                  <a:srgbClr val="FFFFFF"/>
                </a:solidFill>
                <a:latin typeface="Arial"/>
              </a:rPr>
              <a:t>▸  Refresh token blacklisted on logout — session cannot be reused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2000">
                <a:solidFill>
                  <a:srgbClr val="FFFFFF"/>
                </a:solidFill>
                <a:latin typeface="Arial"/>
              </a:rPr>
              <a:t>▸  Social login support: Google, Facebook, Apple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ABBCC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  <a:latin typeface="Arial"/>
              </a:rPr>
              <a:t>Features: Feed &amp; Hubs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2000">
                <a:solidFill>
                  <a:srgbClr val="FFFFFF"/>
                </a:solidFill>
                <a:latin typeface="Arial"/>
              </a:rPr>
              <a:t>▸  Home Feed: personalized posts from joined Hubs, with likes &amp; comments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2000">
                <a:solidFill>
                  <a:srgbClr val="FFFFFF"/>
                </a:solidFill>
                <a:latin typeface="Arial"/>
              </a:rPr>
              <a:t>▸  Global Feed: all public posts across the entire platform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2000">
                <a:solidFill>
                  <a:srgbClr val="FFFFFF"/>
                </a:solidFill>
                <a:latin typeface="Arial"/>
              </a:rPr>
              <a:t>▸  Hubs screen: 'My Hubs' and 'Explore Hubs' tabs (ViewPager2)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2000">
                <a:solidFill>
                  <a:srgbClr val="FFFFFF"/>
                </a:solidFill>
                <a:latin typeface="Arial"/>
              </a:rPr>
              <a:t>▸  Hub Detail: posts, challenges, member list, join/leave button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2000">
                <a:solidFill>
                  <a:srgbClr val="FFFFFF"/>
                </a:solidFill>
                <a:latin typeface="Arial"/>
              </a:rPr>
              <a:t>▸  Create Hub: name, description, cover image, category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2000">
                <a:solidFill>
                  <a:srgbClr val="FFFFFF"/>
                </a:solidFill>
                <a:latin typeface="Arial"/>
              </a:rPr>
              <a:t>▸  Hub Roles: Admin, Moderator, Member — each with different permissions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2000">
                <a:solidFill>
                  <a:srgbClr val="FFFFFF"/>
                </a:solidFill>
                <a:latin typeface="Arial"/>
              </a:rPr>
              <a:t>▸  Post types: Regular, Progress Update, Achievement Broadcast, Stage Proof, Count Entry, Streak Check-in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ABBCC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  <a:latin typeface="Arial"/>
              </a:rPr>
              <a:t>Feature: The Challenge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3657600" cy="2743200"/>
          </a:xfrm>
          <a:prstGeom prst="rect">
            <a:avLst/>
          </a:prstGeom>
          <a:solidFill>
            <a:srgbClr val="1A2D42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00B4D8"/>
                </a:solidFill>
                <a:latin typeface="Arial"/>
              </a:rPr>
              <a:t>Stage-Based</a:t>
            </a:r>
          </a:p>
          <a:p>
            <a:pPr algn="ctr"/>
            <a:r>
              <a:rPr sz="1400">
                <a:solidFill>
                  <a:srgbClr val="FFFFFF"/>
                </a:solidFill>
                <a:latin typeface="Arial"/>
              </a:rPr>
              <a:t>
Sequential milestones.
Each stage requires proof.
Visual stage progress bar.</a:t>
            </a:r>
          </a:p>
        </p:txBody>
      </p:sp>
      <p:sp>
        <p:nvSpPr>
          <p:cNvPr id="5" name="Rectangle 4"/>
          <p:cNvSpPr/>
          <p:nvPr/>
        </p:nvSpPr>
        <p:spPr>
          <a:xfrm>
            <a:off x="4297680" y="1188720"/>
            <a:ext cx="3657600" cy="2743200"/>
          </a:xfrm>
          <a:prstGeom prst="rect">
            <a:avLst/>
          </a:prstGeom>
          <a:solidFill>
            <a:srgbClr val="1A2D42"/>
          </a:solidFill>
          <a:ln w="254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8C00"/>
                </a:solidFill>
                <a:latin typeface="Arial"/>
              </a:rPr>
              <a:t>Count-Based</a:t>
            </a:r>
          </a:p>
          <a:p>
            <a:pPr algn="ctr"/>
            <a:r>
              <a:rPr sz="1400">
                <a:solidFill>
                  <a:srgbClr val="FFFFFF"/>
                </a:solidFill>
                <a:latin typeface="Arial"/>
              </a:rPr>
              <a:t>
Numeric target.
Log entries (e.g. 100 km).
Additive or cumulative mode.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0" y="1188720"/>
            <a:ext cx="3657600" cy="2743200"/>
          </a:xfrm>
          <a:prstGeom prst="rect">
            <a:avLst/>
          </a:prstGeom>
          <a:solidFill>
            <a:srgbClr val="1A2D42"/>
          </a:solidFill>
          <a:ln w="25400">
            <a:solidFill>
              <a:srgbClr val="CA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CAF0F8"/>
                </a:solidFill>
                <a:latin typeface="Arial"/>
              </a:rPr>
              <a:t>Streak-Based</a:t>
            </a:r>
          </a:p>
          <a:p>
            <a:pPr algn="ctr"/>
            <a:r>
              <a:rPr sz="1400">
                <a:solidFill>
                  <a:srgbClr val="FFFFFF"/>
                </a:solidFill>
                <a:latin typeface="Arial"/>
              </a:rPr>
              <a:t>
Daily/weekly check-ins.
Calendar heatmap.
Grace days for misses.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41605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CAF0F8"/>
                </a:solidFill>
                <a:latin typeface="Arial"/>
              </a:rPr>
              <a:t>Completion Flow:  Member submits request  →  Peer micro-validation  →  Admin final review  →  Achievement post broadcast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48463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AABBCC"/>
                </a:solidFill>
                <a:latin typeface="Arial"/>
              </a:rPr>
              <a:t>Challenge Templates: 8 official templates across Fitness, Finance, Learning, Mindfulness, and more.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922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ABBCC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  <a:latin typeface="Arial"/>
              </a:rPr>
              <a:t>Features: Social, Profile &amp; Notifications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2000">
                <a:solidFill>
                  <a:srgbClr val="FFFFFF"/>
                </a:solidFill>
                <a:latin typeface="Arial"/>
              </a:rPr>
              <a:t>▸  Follow / Unfollow users — follower/following counts on profile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2000">
                <a:solidFill>
                  <a:srgbClr val="FFFFFF"/>
                </a:solidFill>
                <a:latin typeface="Arial"/>
              </a:rPr>
              <a:t>▸  Profile page: avatar, bio, post count, Hub count, wishlist URL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2000">
                <a:solidFill>
                  <a:srgbClr val="FFFFFF"/>
                </a:solidFill>
                <a:latin typeface="Arial"/>
              </a:rPr>
              <a:t>▸  Edit profile: name, bio, wishlist link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2000">
                <a:solidFill>
                  <a:srgbClr val="FFFFFF"/>
                </a:solidFill>
                <a:latin typeface="Arial"/>
              </a:rPr>
              <a:t>▸  Notifications: follows, likes, comments, challenge approvals/rejections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2000">
                <a:solidFill>
                  <a:srgbClr val="FFFFFF"/>
                </a:solidFill>
                <a:latin typeface="Arial"/>
              </a:rPr>
              <a:t>▸  Unread badge count on Notifications tab icon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2000">
                <a:solidFill>
                  <a:srgbClr val="FFFFFF"/>
                </a:solidFill>
                <a:latin typeface="Arial"/>
              </a:rPr>
              <a:t>▸  Comments: BottomSheet per post, live count shown on post card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2000">
                <a:solidFill>
                  <a:srgbClr val="FFFFFF"/>
                </a:solidFill>
                <a:latin typeface="Arial"/>
              </a:rPr>
              <a:t>▸  Explore screen: full-screen vertical scroll of public posts/videos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2000">
                <a:solidFill>
                  <a:srgbClr val="FFFFFF"/>
                </a:solidFill>
                <a:latin typeface="Arial"/>
              </a:rPr>
              <a:t>▸  Search: simultaneous search across Users, Hubs, Posts, Challenges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ABBCC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B4D8"/>
                </a:solidFill>
                <a:latin typeface="Arial"/>
              </a:rPr>
              <a:t>Code Highlight #1 — RetrofitClient.kt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CAF0F8"/>
                </a:solidFill>
                <a:latin typeface="Arial"/>
              </a:rPr>
              <a:t>Transparent JWT Token Refresh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463040"/>
            <a:ext cx="11338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A8FF78"/>
                </a:solidFill>
                <a:latin typeface="Courier New"/>
              </a:rPr>
              <a:t>private val tokenAuthenticator = object : Authenticator {
  override fun authenticate(route: Route?, response: Response): Request? {
    // avoid infinite loop on refresh endpoint
    if (response.request.url.encodedPath.contains("token/refresh")) return null
    val refreshToken = runBlocking { prefs.refreshToken.first() } ?: return navigateToLogin()
    return try {
      val refreshResponse = runBlocking { refreshService.refreshToken(...) }
      runBlocking { prefs.saveAccessToken(refreshResponse.access) }
      response.request.newBuilder().header("Authorization", "Bearer ${...}").build()
    } catch (e: Exception) { navigateToLogin(); null }
  }
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440680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Arial"/>
              </a:rPr>
              <a:t>When a request returns 401, OkHttp calls authenticate() automatically.
A silent refresh happens — no error shown, original request retried with new token.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922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ABBCC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B4D8"/>
                </a:solidFill>
                <a:latin typeface="Arial"/>
              </a:rPr>
              <a:t>Code Highlight #2 — Challenge Model (Django)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CAF0F8"/>
                </a:solidFill>
                <a:latin typeface="Arial"/>
              </a:rPr>
              <a:t>Polymorphic Design — one model header, three configuration tables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463040"/>
            <a:ext cx="11338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A8FF78"/>
                </a:solidFill>
                <a:latin typeface="Courier New"/>
              </a:rPr>
              <a:t>class Challenge(models.Model):
    MODEL_STAGE = "stage"  # → ChallengeStage rows
    MODEL_COUNT = "count"  # → ChallengeCountConfig row
    MODEL_STREAK = "streak" # → ChallengeStreakConfig row
    hub = models.ForeignKey(Hub, ...)
    progress_model = models.CharField(choices=MODEL_CHOICES)
    is_main = models.BooleanField(default=False)
    ends_at = models.DateTimeField(null=True, blank=True)
# User progress per model:
#   UserStageProgress  /  UserCountProgress  /  UserStreakProgress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25780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Arial"/>
              </a:rPr>
              <a:t>Single challenge row → model-specific config table.
Clean schema, no nullable columns, supports thousands of concurrent participants.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922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ABBCC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B4D8"/>
                </a:solidFill>
                <a:latin typeface="Arial"/>
              </a:rPr>
              <a:t>Code Highlight #3 — build_auth_response (Django)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CAF0F8"/>
                </a:solidFill>
                <a:latin typeface="Arial"/>
              </a:rPr>
              <a:t>Single helper — Signup, Login, Social Login all return the same response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463040"/>
            <a:ext cx="11338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A8FF78"/>
                </a:solidFill>
                <a:latin typeface="Courier New"/>
              </a:rPr>
              <a:t>def build_auth_response(user, request):
    refresh = RefreshToken.for_user(user)
    return {
        "access_token":  str(refresh.access_token),
        "refresh_token": str(refresh),
        "user": UserSerializer(user, context={"request": request}).data,
    }
# Called identically from:
#   SignupView.post()   →  return Response(build_auth_response(user, request), 201)
#   LoginView.post()    →  return Response(build_auth_response(user, request), 200)
#   SocialLoginView.post() → return Response(build_auth_response(user, request), 200)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440680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Arial"/>
              </a:rPr>
              <a:t>DRY principle: one function, consistent response. Android client uses one AuthResponse data class for all three auth flows.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922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ABBCC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  <a:latin typeface="Arial"/>
              </a:rPr>
              <a:t>Technologies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4D8"/>
                </a:solidFill>
                <a:latin typeface="Arial"/>
              </a:rPr>
              <a:t>Backend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8C00"/>
                </a:solidFill>
                <a:latin typeface="Arial"/>
              </a:rPr>
              <a:t>Android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Arial"/>
              </a:rPr>
              <a:t>▸  Python 3.12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66544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Arial"/>
              </a:rPr>
              <a:t>▸  Django 6 + Django REST Framework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8716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Arial"/>
              </a:rPr>
              <a:t>▸  SimpleJWT (JWT auth + token blacklisting)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0779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Arial"/>
              </a:rPr>
              <a:t>▸  SQLite (dev) → PostgreSQL (prod)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328416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Arial"/>
              </a:rPr>
              <a:t>▸  Pillow (image processing)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6459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Arial"/>
              </a:rPr>
              <a:t>▸  Kotlin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066544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Arial"/>
              </a:rPr>
              <a:t>▸  MVVM + Repository pattern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48716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Arial"/>
              </a:rPr>
              <a:t>▸  Retrofit 2 + OkHttp 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90779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Arial"/>
              </a:rPr>
              <a:t>▸  Jetpack Navigation Component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328416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Arial"/>
              </a:rPr>
              <a:t>▸  Android DataStore (Preferences)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7490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Arial"/>
              </a:rPr>
              <a:t>▸  Glide (image loading)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169664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Arial"/>
              </a:rPr>
              <a:t>▸  ViewPager2 + BottomSheet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0" y="64922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ABBCC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  <a:latin typeface="Arial"/>
              </a:rPr>
              <a:t>Current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2000">
                <a:solidFill>
                  <a:srgbClr val="FFFFFF"/>
                </a:solidFill>
                <a:latin typeface="Arial"/>
              </a:rPr>
              <a:t>▸  SQLite only — not suitable for concurrent production writes (PostgreSQL migration needed)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2000">
                <a:solidFill>
                  <a:srgbClr val="FFFFFF"/>
                </a:solidFill>
                <a:latin typeface="Arial"/>
              </a:rPr>
              <a:t>▸  No real-time push notifications (FCM) — notifications are pull-based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2000">
                <a:solidFill>
                  <a:srgbClr val="FFFFFF"/>
                </a:solidFill>
                <a:latin typeface="Arial"/>
              </a:rPr>
              <a:t>▸  Social login tokens not cryptographically verified — prototype only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2000">
                <a:solidFill>
                  <a:srgbClr val="FFFFFF"/>
                </a:solidFill>
                <a:latin typeface="Arial"/>
              </a:rPr>
              <a:t>▸  Media stored on local filesystem — needs cloud storage (S3) for production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2000">
                <a:solidFill>
                  <a:srgbClr val="FFFFFF"/>
                </a:solidFill>
                <a:latin typeface="Arial"/>
              </a:rPr>
              <a:t>▸  Single Django process — no Redis caching, no Celery task queue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2000">
                <a:solidFill>
                  <a:srgbClr val="FFFFFF"/>
                </a:solidFill>
                <a:latin typeface="Arial"/>
              </a:rPr>
              <a:t>▸  No comprehensive automated test suite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ABBCC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  <a:latin typeface="Arial"/>
              </a:rPr>
              <a:t>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2000">
                <a:solidFill>
                  <a:srgbClr val="FFFFFF"/>
                </a:solidFill>
                <a:latin typeface="Arial"/>
              </a:rPr>
              <a:t>▸  Firebase Cloud Messaging (FCM) for real-time push notifications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2000">
                <a:solidFill>
                  <a:srgbClr val="FFFFFF"/>
                </a:solidFill>
                <a:latin typeface="Arial"/>
              </a:rPr>
              <a:t>▸  PostgreSQL migration + Redis caching layer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2000">
                <a:solidFill>
                  <a:srgbClr val="FFFFFF"/>
                </a:solidFill>
                <a:latin typeface="Arial"/>
              </a:rPr>
              <a:t>▸  AWS S3 / Google Cloud Storage for scalable media storage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2000">
                <a:solidFill>
                  <a:srgbClr val="FFFFFF"/>
                </a:solidFill>
                <a:latin typeface="Arial"/>
              </a:rPr>
              <a:t>▸  Achievement Badges displayed on user profiles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2000">
                <a:solidFill>
                  <a:srgbClr val="FFFFFF"/>
                </a:solidFill>
                <a:latin typeface="Arial"/>
              </a:rPr>
              <a:t>▸  Hub Leaderboards — rank members by challenge progress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2000">
                <a:solidFill>
                  <a:srgbClr val="FFFFFF"/>
                </a:solidFill>
                <a:latin typeface="Arial"/>
              </a:rPr>
              <a:t>▸  Direct Messaging between Hub members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2000">
                <a:solidFill>
                  <a:srgbClr val="FFFFFF"/>
                </a:solidFill>
                <a:latin typeface="Arial"/>
              </a:rPr>
              <a:t>▸  AI-powered challenge suggestions based on user interests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2000">
                <a:solidFill>
                  <a:srgbClr val="FFFFFF"/>
                </a:solidFill>
                <a:latin typeface="Arial"/>
              </a:rPr>
              <a:t>▸  iOS version (Swift / SwiftUI) consuming the same REST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ABBCC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00B4D8"/>
                </a:solidFill>
                <a:latin typeface="Arial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CAF0F8"/>
                </a:solidFill>
                <a:latin typeface="Arial"/>
              </a:rPr>
              <a:t>Questions &amp; 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AABBCC"/>
                </a:solidFill>
                <a:latin typeface="Arial"/>
              </a:rPr>
              <a:t>github.com/hadiyazbek2/HubRise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69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Arial"/>
              </a:rPr>
              <a:t>Hadi Yazbek  —  CS Engineering  —  2025/2026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922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ABBCC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